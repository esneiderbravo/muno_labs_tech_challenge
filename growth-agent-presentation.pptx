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5029200" cy="50292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2926080" cy="2926080"/>
          </a:xfrm>
          <a:prstGeom prst="ellipse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>
                <a:alpha val="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56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PRUEBA TÉCNICA · MUNOLABS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7132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FFFFF"/>
                </a:solidFill>
              </a:rPr>
              <a:t>"El estado de cada proyecto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FFFFF"/>
                </a:solidFill>
              </a:rPr>
              <a:t>vive en la cabeza de quien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FFFFF"/>
                </a:solidFill>
              </a:rPr>
              <a:t>estuvo en la última reunión."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22860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871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B4D8"/>
                </a:solidFill>
              </a:rPr>
              <a:t>½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234440" y="25786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DÍA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33649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para obtener un update claro de 10 clientes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858768"/>
            <a:ext cx="8412480" cy="18288"/>
          </a:xfrm>
          <a:prstGeom prst="rect">
            <a:avLst/>
          </a:prstGeom>
          <a:solidFill>
            <a:srgbClr val="1E3A5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95020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B4D8"/>
                </a:solidFill>
              </a:rPr>
              <a:t>LO QUE REALMENTE CONSTRUÍ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418795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Memoria organizacional accionable — no un chatbot.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Esneider Bravo  ·  </a:t>
            </a:r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muno-labs-tech-challenge.vercel.app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·  </a:t>
            </a:r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github.com/esneiderbravo/muno_labs_tech_challenge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1B2A"/>
                </a:solidFill>
              </a:rPr>
              <a:t>SIN EL AGENTE  ·  CON EL AGENTE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El mismo lunes por la mañana — dos realidades completamente distintas.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69080" cy="3931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0690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ANTES — 9:00 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51790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Bloom no ha respondido en 3 días. ¿Está el cliente molesto?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048256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" y="210312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Nexova tiene demo el jueves. ¿Está resuelto el bug del onboarding?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633472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4672" y="2688336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Trackflow quiere el contrato firmado. ¿Dónde quedó la documentación?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218688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" y="3273552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Metrify renueva en julio. ¿Alguien preparó la propuesta?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803904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385876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EF4444"/>
                </a:solidFill>
              </a:rPr>
              <a:t>→ Revisar Slack, Linear, emails, WhatsApp, notas…  30+ minutos por cliente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1005840"/>
            <a:ext cx="4069080" cy="393192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005840"/>
            <a:ext cx="40690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CON EL AGENTE — 9:00 AM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1463040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30952" y="151790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75569"/>
                </a:solidFill>
              </a:rPr>
              <a:t>"Bloom: riesgo de churn. CEO amenazó cambio de agencia. Acción propuesta: draft WhatsApp + escalar Klaviyo."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2048256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30952" y="210312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75569"/>
                </a:solidFill>
              </a:rPr>
              <a:t>"Nexova: bug en staging, fix deployado ayer. Demo segura si se valida hoy antes de las 18h."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2633472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30952" y="2688336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75569"/>
                </a:solidFill>
              </a:rPr>
              <a:t>"Trackflow: docs API al 80%. Faltan SLA y sandbox. Demo técnica el 27. Confianza: MEDIUM."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3218688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30952" y="3273552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475569"/>
                </a:solidFill>
              </a:rPr>
              <a:t>"Metrify: renovación en riesgo. CPO evalúa BI alternativas. Propuesta debe salir antes del 15/6."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3803904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30952" y="385876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10B981"/>
                </a:solidFill>
              </a:rPr>
              <a:t>→ Una query. 8 segundos. Todas las respuestas. Con evidencia citada.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06240" y="269748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926080"/>
            <a:ext cx="3657600" cy="3657600"/>
          </a:xfrm>
          <a:prstGeom prst="ellipse">
            <a:avLst/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EL PRODUCTO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</a:rPr>
              <a:t>Una interfaz conversacional que orquesta 10 fuentes con criterio — no con fuerza bruta.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5029200" cy="3840480"/>
          </a:xfrm>
          <a:prstGeom prst="rect">
            <a:avLst/>
          </a:prstGeom>
          <a:solidFill>
            <a:srgbClr val="0D1F2E"/>
          </a:solidFill>
          <a:ln w="12700">
            <a:solidFill>
              <a:srgbClr val="0D1F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51560"/>
            <a:ext cx="5029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234440"/>
            <a:ext cx="4114800" cy="310896"/>
          </a:xfrm>
          <a:prstGeom prst="rect">
            <a:avLst/>
          </a:prstGeom>
          <a:solidFill>
            <a:srgbClr val="1E3A5A"/>
          </a:solidFill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💬  ¿Cómo está Nexova esta semana?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</a:rPr>
              <a:t>consultando fuentes…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1508760" cy="2560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84832" y="1938528"/>
            <a:ext cx="1508760" cy="256032"/>
          </a:xfrm>
          <a:prstGeom prst="rect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12464" y="1938528"/>
            <a:ext cx="1508760" cy="256032"/>
          </a:xfrm>
          <a:prstGeom prst="rect">
            <a:avLst/>
          </a:prstGeom>
          <a:solidFill>
            <a:srgbClr val="2A2A5A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947672"/>
            <a:ext cx="1472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🎙 Transcripts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103120" y="1947672"/>
            <a:ext cx="1472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📋 Linear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30752" y="1947672"/>
            <a:ext cx="1472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E0EF"/>
                </a:solidFill>
              </a:rPr>
              <a:t>💬 Slack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2322576"/>
            <a:ext cx="4572000" cy="2450592"/>
          </a:xfrm>
          <a:prstGeom prst="rect">
            <a:avLst/>
          </a:prstGeom>
          <a:solidFill>
            <a:srgbClr val="0A1825"/>
          </a:solidFill>
          <a:ln w="12700">
            <a:solidFill>
              <a:srgbClr val="0A18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322576"/>
            <a:ext cx="54864" cy="2450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77440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59E0B"/>
                </a:solidFill>
              </a:rPr>
              <a:t>RIESGO ALTO · confianza MEDIUM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2633472"/>
            <a:ext cx="43159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Bug crítico en onboarding paso 3 afecta al 40% de nuevos registros. Fix deployado en staging — sin validar. Demo Series A el 28/5 con inversores técnicos.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255264"/>
            <a:ext cx="4315968" cy="18288"/>
          </a:xfrm>
          <a:prstGeom prst="rect">
            <a:avLst/>
          </a:prstGeom>
          <a:solidFill>
            <a:srgbClr val="1E3040"/>
          </a:solidFill>
          <a:ln w="12700">
            <a:solidFill>
              <a:srgbClr val="1E3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28416"/>
            <a:ext cx="4315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0E0EF"/>
                </a:solidFill>
              </a:rPr>
              <a:t>Próximos pasos: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" y="3529584"/>
            <a:ext cx="4315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1. Validar fix en staging antes de 18h  ·  2. Preparar entorno demo con datos realistas  ·  3. Plan B: mostrar solo empresa ya onboarded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059936"/>
            <a:ext cx="4315968" cy="54864"/>
          </a:xfrm>
          <a:prstGeom prst="rect">
            <a:avLst/>
          </a:prstGeom>
          <a:solidFill>
            <a:srgbClr val="0A1825"/>
          </a:solidFill>
          <a:ln w="12700">
            <a:solidFill>
              <a:srgbClr val="0A18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133088"/>
            <a:ext cx="4315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F5D4"/>
                </a:solidFill>
              </a:rPr>
              <a:t>⚡  Acción propuesta: crear tarea Linear "Validar fix onboarding antes demo"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425696"/>
            <a:ext cx="822960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43484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Aprobar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463040" y="4425696"/>
            <a:ext cx="822960" cy="237744"/>
          </a:xfrm>
          <a:prstGeom prst="rect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443484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Rechazar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0" y="1051560"/>
            <a:ext cx="3383280" cy="8686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080760" y="1143000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Selección contextual de tools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080760" y="141732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No llama las 10 herramientas. Elige las relevantes según la pregunta. Transcripts+Linear+Slack para estado. PostHog+Linear para métricas.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0" y="2020824"/>
            <a:ext cx="3383280" cy="868680"/>
          </a:xfrm>
          <a:prstGeom prst="rect">
            <a:avLst/>
          </a:prstGeom>
          <a:solidFill>
            <a:srgbClr val="3A1A1A"/>
          </a:solidFill>
          <a:ln w="12700">
            <a:solidFill>
              <a:srgbClr val="3A1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080760" y="211226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Detección de conflictos determinista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080760" y="238658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Corre ANTES de pasarle contexto al LLM. Si Transcript dice X y Linear dice Y, el agente lo reporta — nunca lo silencia.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0" y="2990088"/>
            <a:ext cx="3383280" cy="86868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080760" y="30815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Output estructurado siempre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080760" y="3355848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finalize_response es obligatoria en cada respuesta. Garantiza: confianza, riesgos, fuentes citadas, acciones propuestas.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0" y="3959352"/>
            <a:ext cx="3383280" cy="868680"/>
          </a:xfrm>
          <a:prstGeom prst="rect">
            <a:avLst/>
          </a:prstGeom>
          <a:solidFill>
            <a:srgbClr val="2A1A3A"/>
          </a:solidFill>
          <a:ln w="12700">
            <a:solidFill>
              <a:srgbClr val="2A1A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080760" y="405079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Write-back con aprobación humana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080760" y="432511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Propone tasks en Linear, drafts en Slack, updates en Notion. Nunca ejecuta solo. El humano siempre aprueba.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77A8"/>
                </a:solidFill>
              </a:rPr>
              <a:t>LA ARQUITECTURA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GPT-4o-mini decide. 10 herramientas ejecutan. Un contrato garantiza estructura.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55448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042416"/>
            <a:ext cx="1408176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UI Chat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Next.js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App Router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11680" y="1005840"/>
            <a:ext cx="1600200" cy="868680"/>
          </a:xfrm>
          <a:prstGeom prst="rect">
            <a:avLst/>
          </a:prstGeom>
          <a:solidFill>
            <a:srgbClr val="00476A"/>
          </a:solidFill>
          <a:ln w="12700">
            <a:solidFill>
              <a:srgbClr val="0047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84832" y="1042416"/>
            <a:ext cx="1453896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/api/chat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Route Handler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Auth + Scope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0" y="1005840"/>
            <a:ext cx="1645920" cy="868680"/>
          </a:xfrm>
          <a:prstGeom prst="rect">
            <a:avLst/>
          </a:prstGeom>
          <a:solidFill>
            <a:srgbClr val="003D36"/>
          </a:solidFill>
          <a:ln w="12700">
            <a:solidFill>
              <a:srgbClr val="003D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13632" y="1042416"/>
            <a:ext cx="1499616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Orchestrator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streamText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OpenAI GPT-4o-mini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15000" y="1005840"/>
            <a:ext cx="1600200" cy="868680"/>
          </a:xfrm>
          <a:prstGeom prst="rect">
            <a:avLst/>
          </a:prstGeom>
          <a:solidFill>
            <a:srgbClr val="3A1A6B"/>
          </a:solidFill>
          <a:ln w="12700">
            <a:solidFill>
              <a:srgbClr val="3A1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8152" y="1042416"/>
            <a:ext cx="1453896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10 Tools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MCP + API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directa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43800" y="1005840"/>
            <a:ext cx="1417320" cy="868680"/>
          </a:xfrm>
          <a:prstGeom prst="rect">
            <a:avLst/>
          </a:prstGeom>
          <a:solidFill>
            <a:srgbClr val="4A1A0A"/>
          </a:solidFill>
          <a:ln w="12700">
            <a:solidFill>
              <a:srgbClr val="4A1A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16952" y="1042416"/>
            <a:ext cx="1271016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Data Layer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Mock → Real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swap sin refactor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83080" y="125272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11880" y="125272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32120" y="125272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60920" y="1252728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28600" y="1993392"/>
            <a:ext cx="155448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02996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useChat hook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0040" y="222199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streaming UI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" y="241401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source badges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011680" y="1993392"/>
            <a:ext cx="16002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2029968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canUserAccess()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03120" y="22219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mention detect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03120" y="24140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scope isolation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840480" y="1993392"/>
            <a:ext cx="164592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202996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stepCountIs(15)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931920" y="222199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conflict-detector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931920" y="241401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model fallback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715000" y="1993392"/>
            <a:ext cx="160020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2029968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finalize_response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06440" y="22219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proposed_actions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806440" y="24140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sources_consulted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543800" y="1993392"/>
            <a:ext cx="141732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35240" y="202996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mismo interface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635240" y="222199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→ real APIs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635240" y="241401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· sin cambiar arch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28600" y="2816352"/>
            <a:ext cx="86868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2926080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64748B"/>
                </a:solidFill>
              </a:rPr>
              <a:t>3 DECISIONES DE DISEÑO QUE IMPORTAN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" y="3246120"/>
            <a:ext cx="278892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8600" y="3246120"/>
            <a:ext cx="27889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" y="333756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01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38328" y="373075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</a:rPr>
              <a:t>OpenAI decide qué herramientas usar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8328" y="4133088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Vercel AI SDK streamText con tool calling. El modelo ve las 10 descripciones y elige las relevantes para cada query. Nunca llama todas — eso sería caro y lento.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38328" y="4754880"/>
            <a:ext cx="2578608" cy="182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" y="4791456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B82F6"/>
                </a:solidFill>
              </a:rPr>
              <a:t>↳ Por qué no todas: costos O(n×sources) por query.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154680" y="3246120"/>
            <a:ext cx="2788920" cy="18288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54680" y="324612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64408" y="333756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02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3264408" y="373075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</a:rPr>
              <a:t>Conflictos detectados antes del LLM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264408" y="4133088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conflict-detector.ts corre sobre los ToolResults antes de que el modelo responda. Determinista, testeable, no alucinable. Si hay conflicto, el system-prompt lo inyecta.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264408" y="4754880"/>
            <a:ext cx="2578608" cy="182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64408" y="4791456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0B981"/>
                </a:solidFill>
              </a:rPr>
              <a:t>↳ Por qué antes: los LLMs silencian conflictos si no se fuerza.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080760" y="3246120"/>
            <a:ext cx="2788920" cy="182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80760" y="324612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0488" y="333756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03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6190488" y="373075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72A"/>
                </a:solidFill>
              </a:rPr>
              <a:t>finalize_response es obligatoria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190488" y="4133088"/>
            <a:ext cx="25786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El agente no puede responder sin llamar esta tool. Garantiza: summary, confidence, risks, conflicts, proposed_actions, sources_consulted. El LLM no escapa de la estructura.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190488" y="4754880"/>
            <a:ext cx="2578608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90488" y="4791456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</a:rPr>
              <a:t>↳ Por qué tool y no prompt: las tools son enforcement real.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457200"/>
            <a:ext cx="4114800" cy="4114800"/>
          </a:xfrm>
          <a:prstGeom prst="ellipse">
            <a:avLst/>
          </a:prstGeom>
          <a:solidFill>
            <a:srgbClr val="7C3AED">
              <a:alpha val="11000"/>
            </a:srgbClr>
          </a:solidFill>
          <a:ln w="12700">
            <a:solidFill>
              <a:srgbClr val="7C3AED">
                <a:alpha val="11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084FC"/>
                </a:solidFill>
              </a:rPr>
              <a:t>CONFIANZA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Un agente que actúa sin control destruye confianza. Cada decisión aquí la protege.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06240" cy="1691640"/>
          </a:xfrm>
          <a:prstGeom prst="rect">
            <a:avLst/>
          </a:prstGeom>
          <a:solidFill>
            <a:srgbClr val="0D1A30"/>
          </a:solidFill>
          <a:ln w="12700">
            <a:solidFill>
              <a:srgbClr val="0D1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73152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698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B4D8"/>
                </a:solidFill>
              </a:rPr>
              <a:t>MODELO DE PERMISOS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 agente hereda exactamente los permisos del usuario que pregunta.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→  Founder → ve todos los clientes. Scope: all.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→  Account-lead → solo sus cuentas asignadas.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1854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→  Mención cruzada de cliente → bloqueada en route.ts.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4323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</a:rPr>
              <a:t>→  Scope isolation → assertClientScope() en orchestrator.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852928"/>
            <a:ext cx="4206240" cy="2084832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852928"/>
            <a:ext cx="73152" cy="20848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1693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0B981"/>
                </a:solidFill>
              </a:rPr>
              <a:t>AUTONOMÍA DE ESCRITURA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 agente propone. Siempre. El humano decide. Siempre.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547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6027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linear_task: crea borrador. [Aprobar / Rechazar] en UI.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8953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39502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slack_draft: mensaje listo. El humano decide cuándo enviar.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2428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2976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notion_update: muestra el diff. No aplica sin confirmación.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590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6451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</a:rPr>
              <a:t>NUNCA ejecuta write-back solo. Hard-coded en finalize_response.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10058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F4444"/>
                </a:solidFill>
              </a:rPr>
              <a:t>GUARDRAILS — LO QUE EL AGENTE NUNCA HARÁ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353312"/>
            <a:ext cx="4114800" cy="640080"/>
          </a:xfrm>
          <a:prstGeom prst="rect">
            <a:avLst/>
          </a:prstGeom>
          <a:solidFill>
            <a:srgbClr val="150A0A"/>
          </a:solidFill>
          <a:ln w="12700">
            <a:solidFill>
              <a:srgbClr val="150A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1353312"/>
            <a:ext cx="54864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426464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✗  Inventar datos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1682496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Solo cita tool calls reales. Si no hay fuente, dice 'no tengo información'.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066544"/>
            <a:ext cx="4114800" cy="640080"/>
          </a:xfrm>
          <a:prstGeom prst="rect">
            <a:avLst/>
          </a:prstGeom>
          <a:solidFill>
            <a:srgbClr val="150A0A"/>
          </a:solidFill>
          <a:ln w="12700">
            <a:solidFill>
              <a:srgbClr val="150A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066544"/>
            <a:ext cx="54864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139696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✗  Cruzar clientes en una sesión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2395728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assertClientScope() en orchestrator. Cada sesión es scope-isolated.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779776"/>
            <a:ext cx="4114800" cy="640080"/>
          </a:xfrm>
          <a:prstGeom prst="rect">
            <a:avLst/>
          </a:prstGeom>
          <a:solidFill>
            <a:srgbClr val="150A0A"/>
          </a:solidFill>
          <a:ln w="12700">
            <a:solidFill>
              <a:srgbClr val="150A0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2779776"/>
            <a:ext cx="54864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852928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✗  Dar confidence HIGH con conflicto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92040" y="3108960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Regla: 2+ fuentes en desacuerdo → confidence LOW automático.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493008"/>
            <a:ext cx="4114800" cy="640080"/>
          </a:xfrm>
          <a:prstGeom prst="rect">
            <a:avLst/>
          </a:prstGeom>
          <a:solidFill>
            <a:srgbClr val="150A0A"/>
          </a:solidFill>
          <a:ln w="12700">
            <a:solidFill>
              <a:srgbClr val="150A0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493008"/>
            <a:ext cx="54864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566160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✗  Responder sin finalize_response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92040" y="3822192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stepCountIs(15) + tool obligatoria. No hay salida sin estructura.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4206240"/>
            <a:ext cx="4114800" cy="640080"/>
          </a:xfrm>
          <a:prstGeom prst="rect">
            <a:avLst/>
          </a:prstGeom>
          <a:solidFill>
            <a:srgbClr val="150A0A"/>
          </a:solidFill>
          <a:ln w="12700">
            <a:solidFill>
              <a:srgbClr val="150A0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4206240"/>
            <a:ext cx="54864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4279392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✗  Llamar todas las fuentes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92040" y="4535424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9CA3AF"/>
                </a:solidFill>
              </a:rPr>
              <a:t>System-prompt con selección por tipo de query + cost guardrail.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1B2A"/>
                </a:solidFill>
              </a:rPr>
              <a:t>6 CLIENTES · 6 ESCENARIOS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Cada cliente fue diseñado para demostrar una capacidad diferente del agente en situación real.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88920" cy="18745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27889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69848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Nexova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" y="1362456"/>
            <a:ext cx="2569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HR Tech SaaS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" y="1554480"/>
            <a:ext cx="2569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890 DAU +22%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" y="1783080"/>
            <a:ext cx="2569464" cy="182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847088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🔴 Bug crítico + demo Series A en 5 días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8328" y="2130552"/>
            <a:ext cx="2569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Detecta: riesgo de inversión. Propone: validar fix, plan B.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72968" y="960120"/>
            <a:ext cx="2788920" cy="187452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2968" y="960120"/>
            <a:ext cx="27889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1069848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Solara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82696" y="1362456"/>
            <a:ext cx="2569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Marketplace Solar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82696" y="1554480"/>
            <a:ext cx="2569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2.100 DAU +31%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82696" y="1783080"/>
            <a:ext cx="2569464" cy="182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82696" y="1847088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🟢 Mejor semana histórica, 2.100 DAU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82696" y="2130552"/>
            <a:ext cx="2569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Detecta: oportunidad de upsell. Propone: propuesta app móvil.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17336" y="960120"/>
            <a:ext cx="2788920" cy="1874520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17336" y="960120"/>
            <a:ext cx="27889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27064" y="1069848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Metrify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27064" y="1362456"/>
            <a:ext cx="2569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Analítica Retail B2B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27064" y="1554480"/>
            <a:ext cx="2569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620 DAU +3%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27064" y="1783080"/>
            <a:ext cx="2569464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1847088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🟡 Renovación julio · CPO evalúa alternativas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27064" y="2130552"/>
            <a:ext cx="2569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Detecta: riesgo de churn. Propone: roadmap diferenciador.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2990088"/>
            <a:ext cx="2788920" cy="18745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2990088"/>
            <a:ext cx="27889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" y="3099816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Draftly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8328" y="3392424"/>
            <a:ext cx="2569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IA de Contenido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" y="3584448"/>
            <a:ext cx="2569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4.800 DAU +67%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8328" y="3813048"/>
            <a:ext cx="2569464" cy="182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" y="3877056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🚀 Viral en LinkedIn, 4.800 DAU +67%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8328" y="4160520"/>
            <a:ext cx="2569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Detecta: momentum. Propone: ampliar contrato Q3.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72968" y="2990088"/>
            <a:ext cx="2788920" cy="1874520"/>
          </a:xfrm>
          <a:prstGeom prst="rect">
            <a:avLst/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72968" y="2990088"/>
            <a:ext cx="27889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82696" y="3099816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Bloom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282696" y="3392424"/>
            <a:ext cx="2569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Marca D2C Bienestar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82696" y="3584448"/>
            <a:ext cx="2569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380 DAU -15%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82696" y="3813048"/>
            <a:ext cx="2569464" cy="182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82696" y="3877056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🔴 2 semanas retrasos · CEO amenaza irse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82696" y="4160520"/>
            <a:ext cx="2569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Detecta: conflicto de responsabilidad. Propone: draft WhatsApp + escalar.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17336" y="2990088"/>
            <a:ext cx="2788920" cy="187452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17336" y="2990088"/>
            <a:ext cx="2788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27064" y="3099816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Trackflow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227064" y="3392424"/>
            <a:ext cx="2569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Logística SaaS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27064" y="3584448"/>
            <a:ext cx="2569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1.450 DAU +8%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27064" y="3813048"/>
            <a:ext cx="2569464" cy="182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27064" y="3877056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⚡ Deal €120k · Demo técnica en 3 días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27064" y="4160520"/>
            <a:ext cx="25694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Detecta: entregables bloqueantes. Propone: SLA y sandbox urgentes.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657600"/>
            <a:ext cx="3474720" cy="347472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</a:rPr>
              <a:t>CONFLICTO EN VIVO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Bloom: cuatro fuentes contradictorias, dos semanas de crisis, una respuesta estructurada.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057400" cy="23042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005840"/>
            <a:ext cx="20574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972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🎙 Transcript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38988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8 mayo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6276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Feedback en 48h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011680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CBD5E1"/>
                </a:solidFill>
              </a:rPr>
              <a:t>Cliente se compromete a aprobar mockups en dos días.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50592" y="1005840"/>
            <a:ext cx="2057400" cy="2304288"/>
          </a:xfrm>
          <a:prstGeom prst="rect">
            <a:avLst/>
          </a:prstGeom>
          <a:solidFill>
            <a:srgbClr val="5A2A00"/>
          </a:solidFill>
          <a:ln w="12700">
            <a:solidFill>
              <a:srgbClr val="5A2A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005840"/>
            <a:ext cx="20574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0972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Linear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42032" y="138988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10 mayo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42032" y="16276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BL-605 cancelado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42032" y="2011680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CBD5E1"/>
                </a:solidFill>
              </a:rPr>
              <a:t>Creatividades de mayo canceladas sin entregar al cliente.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45152" y="1005840"/>
            <a:ext cx="2057400" cy="2304288"/>
          </a:xfrm>
          <a:prstGeom prst="rect">
            <a:avLst/>
          </a:prstGeom>
          <a:solidFill>
            <a:srgbClr val="1A4A2A"/>
          </a:solidFill>
          <a:ln w="12700">
            <a:solidFill>
              <a:srgbClr val="1A4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45152" y="1005840"/>
            <a:ext cx="20574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0972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💬 Slack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138988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20 mayo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36592" y="16276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Klaviyo bloqueado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2011680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CBD5E1"/>
                </a:solidFill>
              </a:rPr>
              <a:t>10 días esperando acceso que el cliente no ha proporcionado.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39712" y="1005840"/>
            <a:ext cx="2057400" cy="2304288"/>
          </a:xfrm>
          <a:prstGeom prst="rect">
            <a:avLst/>
          </a:prstGeom>
          <a:solidFill>
            <a:srgbClr val="5A1010"/>
          </a:solidFill>
          <a:ln w="12700">
            <a:solidFill>
              <a:srgbClr val="5A101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9712" y="1005840"/>
            <a:ext cx="20574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31152" y="10972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WhatsApp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31152" y="1389888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20 mayo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31152" y="16276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CEO amenaza irse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31152" y="2011680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CBD5E1"/>
                </a:solidFill>
              </a:rPr>
              <a:t>"Si no hay entregables esta semana, evalúo otras opciones."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456432"/>
            <a:ext cx="8631936" cy="1572768"/>
          </a:xfrm>
          <a:prstGeom prst="rect">
            <a:avLst/>
          </a:prstGeom>
          <a:solidFill>
            <a:srgbClr val="07111A"/>
          </a:solidFill>
          <a:ln w="12700">
            <a:solidFill>
              <a:srgbClr val="0711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456432"/>
            <a:ext cx="73152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5204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</a:rPr>
              <a:t>RESPUESTA DEL AGENTE — finalize_response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38912" y="37856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Conflicto: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responsabilidad compartida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  ·  Confianza: </a:t>
            </a:r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  (agencia retrasa rediseño · cliente bloquea Klaviyo 10 días)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" y="40965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D4"/>
                </a:solidFill>
              </a:rPr>
              <a:t>Propone: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(1) Draft WhatsApp al CEO: "Rediseño entregado viernes.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 Confirmamos acceso Klaviyo hoy antes de las 18h."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  (2) Escalar acceso a Klaviyo como bloqueante urgente → </a:t>
            </a:r>
            <a:pPr indent="0" marL="0">
              <a:buNone/>
            </a:pPr>
            <a:r>
              <a:rPr lang="en-US" sz="1000" b="1" dirty="0">
                <a:solidFill>
                  <a:srgbClr val="00F5D4"/>
                </a:solidFill>
              </a:rPr>
              <a:t>[Aprobar / Rechazar]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8912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Clave: el agente no inventó ningún dato. Todo vino de una tool call. CRITICAL RULE #1 del system-prompt.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</a:rPr>
              <a:t>ESCALABILIDAD · AMBIGÜEDAD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F172A"/>
                </a:solidFill>
              </a:rPr>
              <a:t>100 clientes, 10 fuentes. Las 3 decisiones más difíciles sin respuesta correcta.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7C3AED"/>
                </a:solidFill>
              </a:rPr>
              <a:t>CÓMO ESCALA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114800" cy="1115568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408176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898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V1 · HOY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170078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· 6 clientes, 3 fuentes core, 1 agente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193852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· Mock data swappable sin cambiar arquitectura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217627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· Scope isolation por sesión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532888"/>
            <a:ext cx="4114800" cy="1115568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2642616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6243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V2 · +90 DÍAS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293522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· 10 fuentes, multi-tenant, DB por agencia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3232" y="317296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· Pre-processing nocturno (Notion, Drive, GitHub)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3232" y="341071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· Fine-tuning conflict detector con casos reales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767328"/>
            <a:ext cx="4114800" cy="1115568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3877056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8587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V3 · +6 MESES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416966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· WhatsApp vía API Business oficial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32" y="440740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· Embeddings propios por cliente/agencia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" y="464515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· Alertas proactivas sin query del usuario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9160" y="98755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9E0B"/>
                </a:solidFill>
              </a:rPr>
              <a:t>3 DECISIONES SIN RESPUESTA OBVIA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298448"/>
            <a:ext cx="4114800" cy="1115568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1298448"/>
            <a:ext cx="4114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1408176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</a:rPr>
              <a:t>¿Cuántas fuentes llamar por query?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1737360"/>
            <a:ext cx="3877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No todas (caro), no una (incompleto). Solución: selección contextual en system-prompt por tipo de pregunta. Revertible: si el usuario pide 'revisa todo', el agente puede ampliar scope.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532888"/>
            <a:ext cx="4114800" cy="1115568"/>
          </a:xfrm>
          <a:prstGeom prst="rect">
            <a:avLst/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532888"/>
            <a:ext cx="41148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642616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</a:rPr>
              <a:t>¿Qué hacer cuando hay conflicto sin fuente ganadora?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28032" y="2971800"/>
            <a:ext cx="3877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Reportar todas las posturas + recomendar la más reciente + confidence LOW + proponer mensaje de alineación. No silenciar, no inventar resolución. La ambigüedad es información.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3767328"/>
            <a:ext cx="4114800" cy="1115568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3767328"/>
            <a:ext cx="41148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877056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F172A"/>
                </a:solidFill>
              </a:rPr>
              <a:t>¿Dónde termina la autonomía del agente?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28032" y="4206240"/>
            <a:ext cx="3877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En el write-back. Leer: sin límite. Proponer: siempre. Ejecutar: nunca solo. Este agente amplifica al humano — no lo reemplaza. En V2 se puede afinar según confianza demostrada.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4114800"/>
            <a:ext cx="3200400" cy="3200400"/>
          </a:xfrm>
          <a:prstGeom prst="ellipse">
            <a:avLst/>
          </a:prstGeom>
          <a:solidFill>
            <a:srgbClr val="0077A8">
              <a:alpha val="12000"/>
            </a:srgbClr>
          </a:solidFill>
          <a:ln w="12700">
            <a:solidFill>
              <a:srgbClr val="0077A8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LAS DECISIONES TÉCNICAS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Cada elección tiene un trade-off real. Aquí está el razonamiento, no la respuesta de manual.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8631936" cy="32918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042416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Capa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92224" y="104241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Decisión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86784" y="104241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Por qué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38544" y="1042416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Trade-off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335024"/>
            <a:ext cx="8631936" cy="694944"/>
          </a:xfrm>
          <a:prstGeom prst="rect">
            <a:avLst/>
          </a:prstGeom>
          <a:solidFill>
            <a:srgbClr val="0D1F30"/>
          </a:solidFill>
          <a:ln w="12700">
            <a:solidFill>
              <a:srgbClr val="0D1F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444752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B4D8"/>
                </a:solidFill>
              </a:rPr>
              <a:t>Modelo de IA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92224" y="1444752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OpenAI GPT-4o-mini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86784" y="1408176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Tool calling maduro + Vercel AI SDK nativo. gpt-4o de fallback automático.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638544" y="1408176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59E0B"/>
                </a:solidFill>
              </a:rPr>
              <a:t>No es Claude — decisión deliberada por cost/latency en V1.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029968"/>
            <a:ext cx="8631936" cy="694944"/>
          </a:xfrm>
          <a:prstGeom prst="rect">
            <a:avLst/>
          </a:prstGeom>
          <a:solidFill>
            <a:srgbClr val="0A1825"/>
          </a:solidFill>
          <a:ln w="12700">
            <a:solidFill>
              <a:srgbClr val="0A1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2139696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B4D8"/>
                </a:solidFill>
              </a:rPr>
              <a:t>Conectividad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92224" y="2139696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MCP donde existe · API directa si no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86784" y="21031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Linear MCP + Slack MCP para SDKs oficiales. API directa para Granola, PostHog.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638544" y="2103120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59E0B"/>
                </a:solidFill>
              </a:rPr>
              <a:t>WhatsApp: sin API pública. Scraping descartado (TOS + fragilidad). Mock en V1.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2724912"/>
            <a:ext cx="8631936" cy="694944"/>
          </a:xfrm>
          <a:prstGeom prst="rect">
            <a:avLst/>
          </a:prstGeom>
          <a:solidFill>
            <a:srgbClr val="0D1F30"/>
          </a:solidFill>
          <a:ln w="12700">
            <a:solidFill>
              <a:srgbClr val="0D1F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283464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B4D8"/>
                </a:solidFill>
              </a:rPr>
              <a:t>Integración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92224" y="283464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Real-time: Slack, Transcripts, Linear · Pre-procesado: Notion, Drive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86784" y="2798064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Freshness define el modo. Preguntas de estado → real-time. Contexto histórico → index.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38544" y="2798064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59E0B"/>
                </a:solidFill>
              </a:rPr>
              <a:t>Pre-procesado sería más barato para todo. Pero Slack stale es inútil.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3419856"/>
            <a:ext cx="8631936" cy="694944"/>
          </a:xfrm>
          <a:prstGeom prst="rect">
            <a:avLst/>
          </a:prstGeom>
          <a:solidFill>
            <a:srgbClr val="0A1825"/>
          </a:solidFill>
          <a:ln w="12700">
            <a:solidFill>
              <a:srgbClr val="0A18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3529584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B4D8"/>
                </a:solidFill>
              </a:rPr>
              <a:t>Output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92224" y="3529584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finalize_response obligatoria (Zod)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86784" y="34930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El LLM no puede escaparse de la estructura. No es un prompt suave — es enforcement.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638544" y="3493008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59E0B"/>
                </a:solidFill>
              </a:rPr>
              <a:t>Añade un step extra. Vale la pena: 0 respuestas sin evidencia.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6032" y="4114800"/>
            <a:ext cx="8631936" cy="694944"/>
          </a:xfrm>
          <a:prstGeom prst="rect">
            <a:avLst/>
          </a:prstGeom>
          <a:solidFill>
            <a:srgbClr val="0D1F30"/>
          </a:solidFill>
          <a:ln w="12700">
            <a:solidFill>
              <a:srgbClr val="0D1F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" y="4224528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B4D8"/>
                </a:solidFill>
              </a:rPr>
              <a:t>Permisos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92224" y="422452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Heredados del usuario, scope per sesión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986784" y="418795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canUserAccessClient() + assertClientScope() en dos capas. Ningún cliente ve datos de otro.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638544" y="4187952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59E0B"/>
                </a:solidFill>
              </a:rPr>
              <a:t>No hay inteligencia cruzada entre clientes (V1). Aceptable para el caso de uso.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5029200" cy="5029200"/>
          </a:xfrm>
          <a:prstGeom prst="ellipse">
            <a:avLst/>
          </a:prstGeom>
          <a:solidFill>
            <a:srgbClr val="00B4D8">
              <a:alpha val="14000"/>
            </a:srgbClr>
          </a:solidFill>
          <a:ln w="12700">
            <a:solidFill>
              <a:srgbClr val="00B4D8">
                <a:alpha val="14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840480"/>
            <a:ext cx="3657600" cy="36576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</a:rPr>
              <a:t>PRUEBA TÉCNICA · MUNOLABS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</a:rPr>
              <a:t>No es un chatbot RAG que resume documentos.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Es el sistema nervioso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central de una agencia.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6858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71216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907792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Convierte fragmentos en memoria accionable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145536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10 herramientas · 1 query · respuesta con evidencia citada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401568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3438144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Detecta lo que nadie leyó todavía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675888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Conflictos entre fuentes antes de que lleguen al cliente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931920"/>
            <a:ext cx="420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3968496"/>
            <a:ext cx="6217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Amplifica al humano — no lo reemplaza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4206240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Propone siempre · Ejecuta solo con aprobación · Explica su confianza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553712"/>
            <a:ext cx="5029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55371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https://muno-labs-tech-challenge.vercel.app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0" y="45537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Esneider Bravo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4828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0B4D8"/>
                </a:solidFill>
              </a:rPr>
              <a:t>github.com/esneiderbravo/muno_labs_tech_challenge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 Agent — MunoLabs</dc:title>
  <dc:subject>PptxGenJS Presentation</dc:subject>
  <dc:creator>PptxGenJS</dc:creator>
  <cp:lastModifiedBy>PptxGenJS</cp:lastModifiedBy>
  <cp:revision>1</cp:revision>
  <dcterms:created xsi:type="dcterms:W3CDTF">2026-05-24T14:42:46Z</dcterms:created>
  <dcterms:modified xsi:type="dcterms:W3CDTF">2026-05-24T14:42:46Z</dcterms:modified>
</cp:coreProperties>
</file>